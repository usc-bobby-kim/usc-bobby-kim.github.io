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es (close)</c:v>
                  </c:pt>
                  <c:pt idx="1">
                    <c:v>id</c:v>
                  </c:pt>
                  <c:pt idx="2">
                    <c:v>hi</c:v>
                  </c:pt>
                  <c:pt idx="3">
                    <c:v>ru</c:v>
                  </c:pt>
                  <c:pt idx="4">
                    <c:v>zh</c:v>
                  </c:pt>
                  <c:pt idx="5">
                    <c:v>sw (far)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87.9</c:v>
                </c:pt>
                <c:pt idx="1">
                  <c:v>84.5</c:v>
                </c:pt>
                <c:pt idx="2">
                  <c:v>76.4</c:v>
                </c:pt>
                <c:pt idx="3">
                  <c:v>57.8</c:v>
                </c:pt>
                <c:pt idx="4">
                  <c:v>88.6</c:v>
                </c:pt>
                <c:pt idx="5">
                  <c:v>50.5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INCLINE (grid-α)</c:v>
                </c:pt>
              </c:strCache>
            </c:strRef>
          </c:tx>
          <c:spPr>
            <a:solidFill>
              <a:srgbClr val="06B6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es (close)</c:v>
                  </c:pt>
                  <c:pt idx="1">
                    <c:v>id</c:v>
                  </c:pt>
                  <c:pt idx="2">
                    <c:v>hi</c:v>
                  </c:pt>
                  <c:pt idx="3">
                    <c:v>ru</c:v>
                  </c:pt>
                  <c:pt idx="4">
                    <c:v>zh</c:v>
                  </c:pt>
                  <c:pt idx="5">
                    <c:v>sw (far)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90.6</c:v>
                </c:pt>
                <c:pt idx="1">
                  <c:v>86.1</c:v>
                </c:pt>
                <c:pt idx="2">
                  <c:v>81.5</c:v>
                </c:pt>
                <c:pt idx="3">
                  <c:v>67.2</c:v>
                </c:pt>
                <c:pt idx="4">
                  <c:v>91.2</c:v>
                </c:pt>
                <c:pt idx="5">
                  <c:v>59.7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Ling-Informed (pred-α)</c:v>
                </c:pt>
              </c:strCache>
            </c:strRef>
          </c:tx>
          <c:spPr>
            <a:solidFill>
              <a:srgbClr val="6366F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es (close)</c:v>
                  </c:pt>
                  <c:pt idx="1">
                    <c:v>id</c:v>
                  </c:pt>
                  <c:pt idx="2">
                    <c:v>hi</c:v>
                  </c:pt>
                  <c:pt idx="3">
                    <c:v>ru</c:v>
                  </c:pt>
                  <c:pt idx="4">
                    <c:v>zh</c:v>
                  </c:pt>
                  <c:pt idx="5">
                    <c:v>sw (far)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90.4</c:v>
                </c:pt>
                <c:pt idx="1">
                  <c:v>86</c:v>
                </c:pt>
                <c:pt idx="2">
                  <c:v>81.9</c:v>
                </c:pt>
                <c:pt idx="3">
                  <c:v>68</c:v>
                </c:pt>
                <c:pt idx="4">
                  <c:v>91</c:v>
                </c:pt>
                <c:pt idx="5">
                  <c:v>61.6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4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5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Optimal α (grid)</c:v>
                </c:pt>
              </c:strCache>
            </c:strRef>
          </c:tx>
          <c:spPr>
            <a:solidFill>
              <a:srgbClr val="F43F5E"/>
            </a:solidFill>
            <a:ln>
              <a:noFill/>
            </a:ln>
            <a:effectLst/>
          </c:spPr>
          <c:marker>
            <c:symbol val="circle"/>
            <c:size val="7"/>
            <c:spPr>
              <a:solidFill>
                <a:srgbClr val="F43F5E"/>
              </a:solidFill>
              <a:ln w="9525" cap="flat">
                <a:solidFill>
                  <a:srgbClr val="F43F5E"/>
                </a:solidFill>
                <a:prstDash val="solid"/>
                <a:round/>
              </a:ln>
              <a:effectLst/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0.15</c:v>
                </c:pt>
                <c:pt idx="1">
                  <c:v>0.22</c:v>
                </c:pt>
                <c:pt idx="2">
                  <c:v>0.35</c:v>
                </c:pt>
                <c:pt idx="3">
                  <c:v>0.55</c:v>
                </c:pt>
                <c:pt idx="4">
                  <c:v>0.7</c:v>
                </c:pt>
                <c:pt idx="5">
                  <c:v>0.82</c:v>
                </c:pt>
                <c:pt idx="6">
                  <c:v>0.95</c:v>
                </c:pt>
              </c:numCache>
            </c:numRef>
          </c:xVal>
          <c:yVal>
            <c:numRef>
              <c:f>Sheet1!$B$2:$B$8</c:f>
              <c:numCache>
                <c:formatCode>General</c:formatCode>
                <c:ptCount val="7"/>
                <c:pt idx="0">
                  <c:v>0.85</c:v>
                </c:pt>
                <c:pt idx="1">
                  <c:v>0.7</c:v>
                </c:pt>
                <c:pt idx="2">
                  <c:v>0.45</c:v>
                </c:pt>
                <c:pt idx="3">
                  <c:v>0.05</c:v>
                </c:pt>
                <c:pt idx="4">
                  <c:v>-0.3</c:v>
                </c:pt>
                <c:pt idx="5">
                  <c:v>-0.55</c:v>
                </c:pt>
                <c:pt idx="6">
                  <c:v>-0.78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Predicted α (fit)</c:v>
                </c:pt>
              </c:strCache>
            </c:strRef>
          </c:tx>
          <c:spPr>
            <a:solidFill>
              <a:srgbClr val="6366F1"/>
            </a:solidFill>
            <a:ln>
              <a:noFill/>
            </a:ln>
            <a:effectLst/>
          </c:spPr>
          <c:marker>
            <c:symbol val="circle"/>
            <c:size val="7"/>
            <c:spPr>
              <a:solidFill>
                <a:srgbClr val="6366F1"/>
              </a:solidFill>
              <a:ln w="9525" cap="flat">
                <a:solidFill>
                  <a:srgbClr val="6366F1"/>
                </a:solidFill>
                <a:prstDash val="solid"/>
                <a:round/>
              </a:ln>
              <a:effectLst/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0.15</c:v>
                </c:pt>
                <c:pt idx="1">
                  <c:v>0.22</c:v>
                </c:pt>
                <c:pt idx="2">
                  <c:v>0.35</c:v>
                </c:pt>
                <c:pt idx="3">
                  <c:v>0.55</c:v>
                </c:pt>
                <c:pt idx="4">
                  <c:v>0.7</c:v>
                </c:pt>
                <c:pt idx="5">
                  <c:v>0.82</c:v>
                </c:pt>
                <c:pt idx="6">
                  <c:v>0.95</c:v>
                </c:pt>
              </c:numCache>
            </c:numRef>
          </c:xVal>
          <c:yVal>
            <c:numRef>
              <c:f>Sheet1!$C$2:$C$8</c:f>
              <c:numCache>
                <c:formatCode>General</c:formatCode>
                <c:ptCount val="7"/>
                <c:pt idx="0">
                  <c:v>0.8523136109700361</c:v>
                </c:pt>
                <c:pt idx="1">
                  <c:v>0.7079888268156429</c:v>
                </c:pt>
                <c:pt idx="2">
                  <c:v>0.43995708481462703</c:v>
                </c:pt>
                <c:pt idx="3">
                  <c:v>0.027600558659217622</c:v>
                </c:pt>
                <c:pt idx="4">
                  <c:v>-0.2816668359573389</c:v>
                </c:pt>
                <c:pt idx="5">
                  <c:v>-0.5290807516505844</c:v>
                </c:pt>
                <c:pt idx="6">
                  <c:v>-0.7971124936516003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"/>
          <c:min val="0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64748B"/>
                    </a:solidFill>
                    <a:latin typeface="Arial"/>
                  </a:rPr>
                  <a:t>Linguistic distance from English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1"/>
          <c:min val="-1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64748B"/>
                    </a:solidFill>
                    <a:latin typeface="Arial"/>
                  </a:rPr>
                  <a:t>Optimal α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1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6366F1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3931920"/>
            <a:ext cx="2926080" cy="2926080"/>
          </a:xfrm>
          <a:prstGeom prst="ellipse">
            <a:avLst/>
          </a:prstGeom>
          <a:solidFill>
            <a:srgbClr val="06B6D4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4754880"/>
            <a:ext cx="2743200" cy="2743200"/>
          </a:xfrm>
          <a:prstGeom prst="ellipse">
            <a:avLst/>
          </a:prstGeom>
          <a:solidFill>
            <a:srgbClr val="F43F5E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48640"/>
            <a:ext cx="3200400" cy="29260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5486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PROPOSAL  ·  CROSS-LINGUAL LLM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107899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Knowing How Far to Steer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58368" y="184708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BD5E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Adaptive Intervention Strength for Crosslingual Knowledge Transfer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58368" y="239572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language-specific intervention strength from </a:t>
            </a:r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linguistic distance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 per-language grid search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063240"/>
            <a:ext cx="3401568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5400000">
              <a:srgbClr val="1E293B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96112" y="3319272"/>
            <a:ext cx="640080" cy="64008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2" name="Image 0" descr="/home/claude/icons/glob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3474720"/>
            <a:ext cx="329184" cy="32918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691640" y="3374136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Gap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914400" y="4050792"/>
            <a:ext cx="2852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are English-centric; performance varies sharply across languages.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352544" y="3063240"/>
            <a:ext cx="3401568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5400000">
              <a:srgbClr val="1E293B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608576" y="3319272"/>
            <a:ext cx="640080" cy="640080"/>
          </a:xfrm>
          <a:prstGeom prst="ellipse">
            <a:avLst/>
          </a:prstGeom>
          <a:solidFill>
            <a:srgbClr val="06B6D4"/>
          </a:solidFill>
          <a:ln/>
        </p:spPr>
      </p:sp>
      <p:pic>
        <p:nvPicPr>
          <p:cNvPr id="17" name="Image 1" descr="/home/claude/icons/sliders_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24" y="3474720"/>
            <a:ext cx="329184" cy="32918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404104" y="3374136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Lever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4626864" y="4050792"/>
            <a:ext cx="2852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INCLINE aligns source representations to a high-resource space at inference, scaled by α.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8065008" y="3063240"/>
            <a:ext cx="3401568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5400000">
              <a:srgbClr val="1E293B">
                <a:alpha val="2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321040" y="3319272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2" name="Image 2" descr="/home/claude/icons/warn_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488" y="3474720"/>
            <a:ext cx="329184" cy="32918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116568" y="3374136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Bottleneck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8339328" y="4050792"/>
            <a:ext cx="2852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α differs per language &amp; needs costly grid search; ignores linguistic structure.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640080" y="5166360"/>
            <a:ext cx="10844784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1E293B">
                <a:alpha val="3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14400" y="5440680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27" name="Image 3" descr="/home/claude/icons/bulb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5559552"/>
            <a:ext cx="310896" cy="31089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645920" y="521208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idea: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α and the alignment matrix as a </a:t>
            </a:r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of measurable linguistic distance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(genealogy, typology, tokenizer overlap, representation gap), so intervention transfers to unseen languages without search.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6355080"/>
            <a:ext cx="384048" cy="38404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75720" y="6355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  ·  WHAT'S MISSING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Prior work tackles the gap — but leaves α blind to language structure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69037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86384" y="1801368"/>
            <a:ext cx="512064" cy="512064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8" name="Image 0" descr="/home/claude/icons/db_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92024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655064"/>
            <a:ext cx="5806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/ Continued Pre-training</a:t>
            </a:r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Aya, multilingual SFT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463040" y="2020824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but resource-intensive: large parallel data + heavy compute for each language.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734056"/>
            <a:ext cx="69037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86384" y="3026664"/>
            <a:ext cx="512064" cy="512064"/>
          </a:xfrm>
          <a:prstGeom prst="ellipse">
            <a:avLst/>
          </a:prstGeom>
          <a:solidFill>
            <a:srgbClr val="06B6D4"/>
          </a:solidFill>
          <a:ln/>
        </p:spPr>
      </p:sp>
      <p:pic>
        <p:nvPicPr>
          <p:cNvPr id="13" name="Image 1" descr="/home/claude/icons/font_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3145536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63040" y="2880360"/>
            <a:ext cx="5806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Prompting</a:t>
            </a:r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translate-then-prompt, X-CoT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463040" y="324612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parameter change, but suffers translation noise &amp; prompt-framing interference; gains vary by task.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3959352"/>
            <a:ext cx="69037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86384" y="4251960"/>
            <a:ext cx="512064" cy="512064"/>
          </a:xfrm>
          <a:prstGeom prst="ellipse">
            <a:avLst/>
          </a:prstGeom>
          <a:solidFill>
            <a:srgbClr val="F43F5E"/>
          </a:solidFill>
          <a:ln/>
        </p:spPr>
      </p:sp>
      <p:pic>
        <p:nvPicPr>
          <p:cNvPr id="18" name="Image 2" descr="/home/claude/icons/balance_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4370832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63040" y="4105656"/>
            <a:ext cx="5806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Activation Intervention</a:t>
            </a:r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ITI, CAA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463040" y="4471416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static steering vector on few layers; collapses on generative / MT tasks.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48640" y="5184648"/>
            <a:ext cx="6903720" cy="1078992"/>
          </a:xfrm>
          <a:prstGeom prst="roundRect">
            <a:avLst>
              <a:gd name="adj" fmla="val 6780"/>
            </a:avLst>
          </a:prstGeom>
          <a:solidFill>
            <a:srgbClr val="EEF0FF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86384" y="5477256"/>
            <a:ext cx="512064" cy="512064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23" name="Image 3" descr="/home/claude/icons/magic_i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5596128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63040" y="5330952"/>
            <a:ext cx="5806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INCLINE (inference-time alignment)</a:t>
            </a:r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alignment matrices + α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1463040" y="5696712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&amp; cheap — but α is set by per-language grid search and uses one general-domain corpus.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7726680" y="1508760"/>
            <a:ext cx="3886200" cy="4572000"/>
          </a:xfrm>
          <a:prstGeom prst="roundRect">
            <a:avLst>
              <a:gd name="adj" fmla="val 2353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52400" dist="50800" dir="5400000">
              <a:srgbClr val="1E293B">
                <a:alpha val="2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001000" y="1801368"/>
            <a:ext cx="566928" cy="566928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8" name="Image 4" descr="/home/claude/icons/warn_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1938528"/>
            <a:ext cx="292608" cy="29260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686800" y="178308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shared blind spot</a:t>
            </a:r>
            <a:endParaRPr lang="en-US" sz="1700" dirty="0"/>
          </a:p>
        </p:txBody>
      </p:sp>
      <p:sp>
        <p:nvSpPr>
          <p:cNvPr id="30" name="Shape 23"/>
          <p:cNvSpPr/>
          <p:nvPr/>
        </p:nvSpPr>
        <p:spPr>
          <a:xfrm>
            <a:off x="8037576" y="2651760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31" name="Text 24"/>
          <p:cNvSpPr/>
          <p:nvPr/>
        </p:nvSpPr>
        <p:spPr>
          <a:xfrm>
            <a:off x="8321040" y="253288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found per language by exhaustive grid search → dozens of evals each.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8037576" y="3520440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33" name="Text 26"/>
          <p:cNvSpPr/>
          <p:nvPr/>
        </p:nvSpPr>
        <p:spPr>
          <a:xfrm>
            <a:off x="8321040" y="340156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α flips sign by family (es: +,  zh: −) yet structure is never modeled.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8037576" y="4389120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35" name="Text 28"/>
          <p:cNvSpPr/>
          <p:nvPr/>
        </p:nvSpPr>
        <p:spPr>
          <a:xfrm>
            <a:off x="8321040" y="427024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Cross-lingual barriers hit hardest on low-resource &amp; distant languages (fi, bn, am).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8037576" y="5257800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37" name="Text 30"/>
          <p:cNvSpPr/>
          <p:nvPr/>
        </p:nvSpPr>
        <p:spPr>
          <a:xfrm>
            <a:off x="8321040" y="513892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mechanism to transfer α to an unseen language.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6355080"/>
            <a:ext cx="384048" cy="38404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75720" y="6355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 ·  LINGUISTICALLY-INFORMED INCLINE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Four components: from measuring distance to adaptive intervention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505456" cy="566928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572768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78992" y="1463040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Distance</a:t>
            </a:r>
            <a:endParaRPr lang="en-US" sz="1350" dirty="0"/>
          </a:p>
        </p:txBody>
      </p:sp>
      <p:pic>
        <p:nvPicPr>
          <p:cNvPr id="10" name="Image 0" descr="/home/claude/icons/arrow_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0" y="1627632"/>
            <a:ext cx="256032" cy="25603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438144" y="1463040"/>
            <a:ext cx="2505456" cy="566928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</p:sp>
      <p:sp>
        <p:nvSpPr>
          <p:cNvPr id="12" name="Shape 9"/>
          <p:cNvSpPr/>
          <p:nvPr/>
        </p:nvSpPr>
        <p:spPr>
          <a:xfrm>
            <a:off x="3547872" y="1572768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3547872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968496" y="1463040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α</a:t>
            </a:r>
            <a:endParaRPr lang="en-US" sz="1350" dirty="0"/>
          </a:p>
        </p:txBody>
      </p:sp>
      <p:pic>
        <p:nvPicPr>
          <p:cNvPr id="15" name="Image 1" descr="/home/claude/icons/arrow_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464" y="1627632"/>
            <a:ext cx="256032" cy="25603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327648" y="1463040"/>
            <a:ext cx="2505456" cy="56692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17" name="Shape 13"/>
          <p:cNvSpPr/>
          <p:nvPr/>
        </p:nvSpPr>
        <p:spPr>
          <a:xfrm>
            <a:off x="6437376" y="1572768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4"/>
          <p:cNvSpPr/>
          <p:nvPr/>
        </p:nvSpPr>
        <p:spPr>
          <a:xfrm>
            <a:off x="6437376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6858000" y="1463040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Matrix</a:t>
            </a:r>
            <a:endParaRPr lang="en-US" sz="1350" dirty="0"/>
          </a:p>
        </p:txBody>
      </p:sp>
      <p:pic>
        <p:nvPicPr>
          <p:cNvPr id="20" name="Image 2" descr="/home/claude/icons/arrow_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7968" y="1627632"/>
            <a:ext cx="256032" cy="256032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9217152" y="1463040"/>
            <a:ext cx="2505456" cy="566928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/>
        </p:spPr>
      </p:sp>
      <p:sp>
        <p:nvSpPr>
          <p:cNvPr id="22" name="Shape 17"/>
          <p:cNvSpPr/>
          <p:nvPr/>
        </p:nvSpPr>
        <p:spPr>
          <a:xfrm>
            <a:off x="9326880" y="1572768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Text 18"/>
          <p:cNvSpPr/>
          <p:nvPr/>
        </p:nvSpPr>
        <p:spPr>
          <a:xfrm>
            <a:off x="9326880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9747504" y="1463040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&amp; Share</a:t>
            </a:r>
            <a:endParaRPr lang="en-US" sz="1350" dirty="0"/>
          </a:p>
        </p:txBody>
      </p:sp>
      <p:sp>
        <p:nvSpPr>
          <p:cNvPr id="25" name="Shape 20"/>
          <p:cNvSpPr/>
          <p:nvPr/>
        </p:nvSpPr>
        <p:spPr>
          <a:xfrm>
            <a:off x="548640" y="2331720"/>
            <a:ext cx="5541264" cy="1764792"/>
          </a:xfrm>
          <a:prstGeom prst="roundRect">
            <a:avLst>
              <a:gd name="adj" fmla="val 46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1E293B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04672" y="2587752"/>
            <a:ext cx="603504" cy="603504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27" name="Image 3" descr="/home/claude/icons/ruler_i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2724912"/>
            <a:ext cx="329184" cy="329184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4901184" y="256946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29" name="Text 23"/>
          <p:cNvSpPr/>
          <p:nvPr/>
        </p:nvSpPr>
        <p:spPr>
          <a:xfrm>
            <a:off x="4901184" y="256946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1536192" y="2578608"/>
            <a:ext cx="32552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Measure Linguistic Distance</a:t>
            </a:r>
            <a:endParaRPr lang="en-US" sz="1550" dirty="0"/>
          </a:p>
        </p:txBody>
      </p:sp>
      <p:sp>
        <p:nvSpPr>
          <p:cNvPr id="31" name="Text 25"/>
          <p:cNvSpPr/>
          <p:nvPr/>
        </p:nvSpPr>
        <p:spPr>
          <a:xfrm>
            <a:off x="859536" y="3264408"/>
            <a:ext cx="49469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Genealogical (Ethnologue family tree)</a:t>
            </a:r>
            <a:endParaRPr lang="en-US" sz="11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Typological (WALS feature vectors)</a:t>
            </a:r>
            <a:endParaRPr lang="en-US" sz="11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Tokenizer overlap rate</a:t>
            </a:r>
            <a:endParaRPr lang="en-US" sz="11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Layer-wise representation gap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6291072" y="2331720"/>
            <a:ext cx="5541264" cy="1764792"/>
          </a:xfrm>
          <a:prstGeom prst="roundRect">
            <a:avLst>
              <a:gd name="adj" fmla="val 46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1E293B">
                <a:alpha val="12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6547104" y="2587752"/>
            <a:ext cx="603504" cy="603504"/>
          </a:xfrm>
          <a:prstGeom prst="ellipse">
            <a:avLst/>
          </a:prstGeom>
          <a:solidFill>
            <a:srgbClr val="06B6D4"/>
          </a:solidFill>
          <a:ln/>
        </p:spPr>
      </p:sp>
      <p:pic>
        <p:nvPicPr>
          <p:cNvPr id="34" name="Image 4" descr="/home/claude/icons/chart_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4264" y="2724912"/>
            <a:ext cx="329184" cy="329184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10643616" y="256946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</p:sp>
      <p:sp>
        <p:nvSpPr>
          <p:cNvPr id="36" name="Text 29"/>
          <p:cNvSpPr/>
          <p:nvPr/>
        </p:nvSpPr>
        <p:spPr>
          <a:xfrm>
            <a:off x="10643616" y="256946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50" dirty="0"/>
          </a:p>
        </p:txBody>
      </p:sp>
      <p:sp>
        <p:nvSpPr>
          <p:cNvPr id="37" name="Text 30"/>
          <p:cNvSpPr/>
          <p:nvPr/>
        </p:nvSpPr>
        <p:spPr>
          <a:xfrm>
            <a:off x="7278624" y="2578608"/>
            <a:ext cx="32552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Predict α from Distance</a:t>
            </a:r>
            <a:endParaRPr lang="en-US" sz="1550" dirty="0"/>
          </a:p>
        </p:txBody>
      </p:sp>
      <p:sp>
        <p:nvSpPr>
          <p:cNvPr id="38" name="Text 31"/>
          <p:cNvSpPr/>
          <p:nvPr/>
        </p:nvSpPr>
        <p:spPr>
          <a:xfrm>
            <a:off x="6601968" y="3264408"/>
            <a:ext cx="49469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 known grid-search α on distances</a:t>
            </a:r>
            <a:endParaRPr lang="en-US" sz="11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/ Random-Forest predictor</a:t>
            </a:r>
            <a:endParaRPr lang="en-US" sz="11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seen langs → infer unseen</a:t>
            </a:r>
            <a:endParaRPr lang="en-US" sz="11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per-language search</a:t>
            </a:r>
            <a:endParaRPr lang="en-US" sz="1150" dirty="0"/>
          </a:p>
        </p:txBody>
      </p:sp>
      <p:sp>
        <p:nvSpPr>
          <p:cNvPr id="39" name="Shape 32"/>
          <p:cNvSpPr/>
          <p:nvPr/>
        </p:nvSpPr>
        <p:spPr>
          <a:xfrm>
            <a:off x="548640" y="4297680"/>
            <a:ext cx="5541264" cy="1764792"/>
          </a:xfrm>
          <a:prstGeom prst="roundRect">
            <a:avLst>
              <a:gd name="adj" fmla="val 46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1E293B">
                <a:alpha val="12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804672" y="4553712"/>
            <a:ext cx="603504" cy="603504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41" name="Image 5" descr="/home/claude/icons/cogs_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" y="4690872"/>
            <a:ext cx="329184" cy="329184"/>
          </a:xfrm>
          <a:prstGeom prst="rect">
            <a:avLst/>
          </a:prstGeom>
        </p:spPr>
      </p:pic>
      <p:sp>
        <p:nvSpPr>
          <p:cNvPr id="42" name="Shape 34"/>
          <p:cNvSpPr/>
          <p:nvPr/>
        </p:nvSpPr>
        <p:spPr>
          <a:xfrm>
            <a:off x="4901184" y="453542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43" name="Text 35"/>
          <p:cNvSpPr/>
          <p:nvPr/>
        </p:nvSpPr>
        <p:spPr>
          <a:xfrm>
            <a:off x="4901184" y="453542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50" dirty="0"/>
          </a:p>
        </p:txBody>
      </p:sp>
      <p:sp>
        <p:nvSpPr>
          <p:cNvPr id="44" name="Text 36"/>
          <p:cNvSpPr/>
          <p:nvPr/>
        </p:nvSpPr>
        <p:spPr>
          <a:xfrm>
            <a:off x="1536192" y="4544568"/>
            <a:ext cx="32552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Language-Adaptive Alignment</a:t>
            </a:r>
            <a:endParaRPr lang="en-US" sz="1550" dirty="0"/>
          </a:p>
        </p:txBody>
      </p:sp>
      <p:sp>
        <p:nvSpPr>
          <p:cNvPr id="45" name="Text 37"/>
          <p:cNvSpPr/>
          <p:nvPr/>
        </p:nvSpPr>
        <p:spPr>
          <a:xfrm>
            <a:off x="859536" y="5230368"/>
            <a:ext cx="49469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Distance-scaled L2: λ(d)·‖W‖²</a:t>
            </a:r>
            <a:endParaRPr lang="en-US" sz="11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layer-range selection</a:t>
            </a:r>
            <a:endParaRPr lang="en-US" sz="11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Orthogonality constraint when close</a:t>
            </a:r>
            <a:endParaRPr lang="en-US" sz="11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Loosen constraint when distant</a:t>
            </a:r>
            <a:endParaRPr lang="en-US" sz="1150" dirty="0"/>
          </a:p>
        </p:txBody>
      </p:sp>
      <p:sp>
        <p:nvSpPr>
          <p:cNvPr id="46" name="Shape 38"/>
          <p:cNvSpPr/>
          <p:nvPr/>
        </p:nvSpPr>
        <p:spPr>
          <a:xfrm>
            <a:off x="6291072" y="4297680"/>
            <a:ext cx="5541264" cy="1764792"/>
          </a:xfrm>
          <a:prstGeom prst="roundRect">
            <a:avLst>
              <a:gd name="adj" fmla="val 46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1E293B">
                <a:alpha val="12000"/>
              </a:srgbClr>
            </a:outerShdw>
          </a:effectLst>
        </p:spPr>
      </p:sp>
      <p:sp>
        <p:nvSpPr>
          <p:cNvPr id="47" name="Shape 39"/>
          <p:cNvSpPr/>
          <p:nvPr/>
        </p:nvSpPr>
        <p:spPr>
          <a:xfrm>
            <a:off x="6547104" y="4553712"/>
            <a:ext cx="603504" cy="603504"/>
          </a:xfrm>
          <a:prstGeom prst="ellipse">
            <a:avLst/>
          </a:prstGeom>
          <a:solidFill>
            <a:srgbClr val="F43F5E"/>
          </a:solidFill>
          <a:ln/>
        </p:spPr>
      </p:sp>
      <p:pic>
        <p:nvPicPr>
          <p:cNvPr id="48" name="Image 6" descr="/home/claude/icons/tree_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4264" y="4690872"/>
            <a:ext cx="329184" cy="329184"/>
          </a:xfrm>
          <a:prstGeom prst="rect">
            <a:avLst/>
          </a:prstGeom>
        </p:spPr>
      </p:pic>
      <p:sp>
        <p:nvSpPr>
          <p:cNvPr id="49" name="Shape 40"/>
          <p:cNvSpPr/>
          <p:nvPr/>
        </p:nvSpPr>
        <p:spPr>
          <a:xfrm>
            <a:off x="10643616" y="453542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/>
        </p:spPr>
      </p:sp>
      <p:sp>
        <p:nvSpPr>
          <p:cNvPr id="50" name="Text 41"/>
          <p:cNvSpPr/>
          <p:nvPr/>
        </p:nvSpPr>
        <p:spPr>
          <a:xfrm>
            <a:off x="10643616" y="453542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50" dirty="0"/>
          </a:p>
        </p:txBody>
      </p:sp>
      <p:sp>
        <p:nvSpPr>
          <p:cNvPr id="51" name="Text 42"/>
          <p:cNvSpPr/>
          <p:nvPr/>
        </p:nvSpPr>
        <p:spPr>
          <a:xfrm>
            <a:off x="7278624" y="4544568"/>
            <a:ext cx="32552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Cluster-Shared Matrices</a:t>
            </a:r>
            <a:endParaRPr lang="en-US" sz="1550" dirty="0"/>
          </a:p>
        </p:txBody>
      </p:sp>
      <p:sp>
        <p:nvSpPr>
          <p:cNvPr id="52" name="Text 43"/>
          <p:cNvSpPr/>
          <p:nvPr/>
        </p:nvSpPr>
        <p:spPr>
          <a:xfrm>
            <a:off x="6601968" y="5230368"/>
            <a:ext cx="49469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langs by linguistic distance</a:t>
            </a:r>
            <a:endParaRPr lang="en-US" sz="11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per-family base matrix</a:t>
            </a:r>
            <a:endParaRPr lang="en-US" sz="11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to each language</a:t>
            </a:r>
            <a:endParaRPr lang="en-US" sz="11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beyond pairwise training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6355080"/>
            <a:ext cx="384048" cy="38404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75720" y="6355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  ·  EXPECTED RESULTS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Setup, metrics &amp; projected outcomes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8862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4672" y="146304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Experimental Setup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1810512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INCLINE tasks + MMLU mixup-trans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(INCLINE) + 16 (barrier), high &amp; low-res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Backbones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BLOOMZ-7B1, LLaMA-3.1-8B, Mistral-7B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WALS, Ethnologue, tokenizer-overlap, rep-gap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401568"/>
            <a:ext cx="1883664" cy="868680"/>
          </a:xfrm>
          <a:prstGeom prst="roundRect">
            <a:avLst>
              <a:gd name="adj" fmla="val 9474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5400000">
              <a:srgbClr val="1E293B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3520440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6366F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 ≥ 0.6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03504" y="3931920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distance–α correlation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51176" y="3401568"/>
            <a:ext cx="1883664" cy="868680"/>
          </a:xfrm>
          <a:prstGeom prst="roundRect">
            <a:avLst>
              <a:gd name="adj" fmla="val 9474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5400000">
              <a:srgbClr val="1E293B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51176" y="3520440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6B6D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≥ 90%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2606040" y="3931920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grid-search acc.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4389120"/>
            <a:ext cx="1883664" cy="868680"/>
          </a:xfrm>
          <a:prstGeom prst="roundRect">
            <a:avLst>
              <a:gd name="adj" fmla="val 9474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5400000">
              <a:srgbClr val="1E293B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4507992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59E0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~30×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03504" y="4919472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α-search cost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51176" y="4389120"/>
            <a:ext cx="1883664" cy="868680"/>
          </a:xfrm>
          <a:prstGeom prst="roundRect">
            <a:avLst>
              <a:gd name="adj" fmla="val 9474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5400000">
              <a:srgbClr val="1E293B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551176" y="4507992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43F5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+Δ acc.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2606040" y="4919472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distant languages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5285232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predicted α recovers grid-search α (sign flip across families) — matching accuracy while removing per-language search.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1371600"/>
            <a:ext cx="694944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92040" y="1444752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accuracy on XStoryCloze (BLOOMZ-7B1)</a:t>
            </a:r>
            <a:endParaRPr lang="en-US" sz="12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4754880" y="1755648"/>
          <a:ext cx="6766560" cy="208483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hape 22"/>
          <p:cNvSpPr/>
          <p:nvPr/>
        </p:nvSpPr>
        <p:spPr>
          <a:xfrm>
            <a:off x="4663440" y="4041648"/>
            <a:ext cx="6949440" cy="2121408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4892040" y="411480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predicted from linguistic distance (validation)</a:t>
            </a:r>
            <a:endParaRPr lang="en-US" sz="1200" dirty="0"/>
          </a:p>
        </p:txBody>
      </p:sp>
      <p:graphicFrame>
        <p:nvGraphicFramePr>
          <p:cNvPr id="27" name="Chart 1" descr=""/>
          <p:cNvGraphicFramePr/>
          <p:nvPr/>
        </p:nvGraphicFramePr>
        <p:xfrm>
          <a:off x="4754880" y="4407408"/>
          <a:ext cx="6766560" cy="166420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371600"/>
            <a:ext cx="4023360" cy="4023360"/>
          </a:xfrm>
          <a:prstGeom prst="ellipse">
            <a:avLst/>
          </a:prstGeom>
          <a:solidFill>
            <a:srgbClr val="6366F1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05840" y="4480560"/>
            <a:ext cx="3017520" cy="301752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0292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029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96012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5400000">
              <a:srgbClr val="1E293B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298448"/>
            <a:ext cx="566928" cy="566928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8" name="Image 0" descr="/home/claude/icons/check_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417320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1005840"/>
            <a:ext cx="9601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line:  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INCLINE's intervention </a:t>
            </a:r>
            <a:pPr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linguistically aware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predict α and shape alignment from linguistic distance, matching grid-search quality at a fraction of the cost and generalizing to unseen, distant languages.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40080" y="2514600"/>
            <a:ext cx="5303520" cy="36118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1E293B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14400" y="2788920"/>
            <a:ext cx="566928" cy="566928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2" name="Image 1" descr="/home/claude/icons/rocket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926080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00200" y="280720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Future Work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960120" y="3566160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</p:sp>
      <p:pic>
        <p:nvPicPr>
          <p:cNvPr id="15" name="Image 2" descr="/home/claude/icons/network_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3675888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72768" y="3511296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multilingual matrix  </a:t>
            </a:r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distance-conditioned matrix covering many languages at once.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960120" y="443484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8" name="Image 3" descr="/home/claude/icons/tach_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4544568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72768" y="4379976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distance estimation  </a:t>
            </a:r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 α on-the-fly from a few unlabeled sentences of a new language.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960120" y="530352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21" name="Image 4" descr="/home/claude/icons/cubes_i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848" y="5413248"/>
            <a:ext cx="237744" cy="23774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572768" y="5248656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with mixed-language FT  </a:t>
            </a:r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with fine-tuning to relax early language-specific encoding.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6217920" y="2514600"/>
            <a:ext cx="5303520" cy="3611880"/>
          </a:xfrm>
          <a:prstGeom prst="roundRect">
            <a:avLst>
              <a:gd name="adj" fmla="val 253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5400000">
              <a:srgbClr val="1E293B">
                <a:alpha val="25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6492240" y="2788920"/>
            <a:ext cx="566928" cy="566928"/>
          </a:xfrm>
          <a:prstGeom prst="ellipse">
            <a:avLst/>
          </a:prstGeom>
          <a:solidFill>
            <a:srgbClr val="F43F5E"/>
          </a:solidFill>
          <a:ln/>
        </p:spPr>
      </p:sp>
      <p:pic>
        <p:nvPicPr>
          <p:cNvPr id="25" name="Image 5" descr="/home/claude/icons/warn_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2926080"/>
            <a:ext cx="310896" cy="31089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178040" y="280720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27" name="Shape 19"/>
          <p:cNvSpPr/>
          <p:nvPr/>
        </p:nvSpPr>
        <p:spPr>
          <a:xfrm>
            <a:off x="6528816" y="3630168"/>
            <a:ext cx="310896" cy="310896"/>
          </a:xfrm>
          <a:prstGeom prst="ellipse">
            <a:avLst/>
          </a:prstGeom>
          <a:solidFill>
            <a:srgbClr val="334155"/>
          </a:solidFill>
          <a:ln/>
        </p:spPr>
      </p:sp>
      <p:pic>
        <p:nvPicPr>
          <p:cNvPr id="28" name="Image 6" descr="/home/claude/icons/times_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1968" y="3703320"/>
            <a:ext cx="164592" cy="16459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967728" y="3520440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internal representations — not applicable to closed API-only models (e.g. GPT-4o).</a:t>
            </a:r>
            <a:endParaRPr lang="en-US" sz="1200" dirty="0"/>
          </a:p>
        </p:txBody>
      </p:sp>
      <p:sp>
        <p:nvSpPr>
          <p:cNvPr id="30" name="Shape 21"/>
          <p:cNvSpPr/>
          <p:nvPr/>
        </p:nvSpPr>
        <p:spPr>
          <a:xfrm>
            <a:off x="6528816" y="4562856"/>
            <a:ext cx="310896" cy="310896"/>
          </a:xfrm>
          <a:prstGeom prst="ellipse">
            <a:avLst/>
          </a:prstGeom>
          <a:solidFill>
            <a:srgbClr val="334155"/>
          </a:solidFill>
          <a:ln/>
        </p:spPr>
      </p:sp>
      <p:pic>
        <p:nvPicPr>
          <p:cNvPr id="31" name="Image 7" descr="/home/claude/icons/compress_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1968" y="4636008"/>
            <a:ext cx="164592" cy="164592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6967728" y="4453128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Linguistic-distance metrics (WALS coverage) are sparse for some low-resource languages.</a:t>
            </a:r>
            <a:endParaRPr lang="en-US" sz="1200" dirty="0"/>
          </a:p>
        </p:txBody>
      </p:sp>
      <p:sp>
        <p:nvSpPr>
          <p:cNvPr id="33" name="Shape 23"/>
          <p:cNvSpPr/>
          <p:nvPr/>
        </p:nvSpPr>
        <p:spPr>
          <a:xfrm>
            <a:off x="6528816" y="5495544"/>
            <a:ext cx="310896" cy="310896"/>
          </a:xfrm>
          <a:prstGeom prst="ellipse">
            <a:avLst/>
          </a:prstGeom>
          <a:solidFill>
            <a:srgbClr val="334155"/>
          </a:solidFill>
          <a:ln/>
        </p:spPr>
      </p:sp>
      <p:pic>
        <p:nvPicPr>
          <p:cNvPr id="34" name="Image 8" descr="/home/claude/icons/branch_a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01968" y="5568696"/>
            <a:ext cx="164592" cy="164592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6967728" y="5385816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α-predictor trained on a finite set of seen languages; extrapolation to truly novel families is unverified.</a:t>
            </a:r>
            <a:endParaRPr lang="en-US" sz="1200" dirty="0"/>
          </a:p>
        </p:txBody>
      </p:sp>
      <p:sp>
        <p:nvSpPr>
          <p:cNvPr id="36" name="Text 25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Linguistically-Informed INCLINE  ·  Research Proposal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Linguistically-Informed INCLINE</dc:title>
  <dc:subject>PptxGenJS Presentation</dc:subject>
  <dc:creator>Research Proposal</dc:creator>
  <cp:lastModifiedBy>Research Proposal</cp:lastModifiedBy>
  <cp:revision>1</cp:revision>
  <dcterms:created xsi:type="dcterms:W3CDTF">2026-06-21T05:04:33Z</dcterms:created>
  <dcterms:modified xsi:type="dcterms:W3CDTF">2026-06-21T05:04:33Z</dcterms:modified>
</cp:coreProperties>
</file>