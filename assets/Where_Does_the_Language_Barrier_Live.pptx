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en–es (close)</c:v>
                </c:pt>
              </c:strCache>
            </c:strRef>
          </c:tx>
          <c:spPr>
            <a:solidFill>
              <a:srgbClr val="14B8A6"/>
            </a:solidFill>
            <a:ln w="3810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L1</c:v>
                  </c:pt>
                  <c:pt idx="1">
                    <c:v>L5</c:v>
                  </c:pt>
                  <c:pt idx="2">
                    <c:v>L9</c:v>
                  </c:pt>
                  <c:pt idx="3">
                    <c:v>L13</c:v>
                  </c:pt>
                  <c:pt idx="4">
                    <c:v>L17</c:v>
                  </c:pt>
                  <c:pt idx="5">
                    <c:v>L21</c:v>
                  </c:pt>
                  <c:pt idx="6">
                    <c:v>L25</c:v>
                  </c:pt>
                  <c:pt idx="7">
                    <c:v>L29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0.55</c:v>
                </c:pt>
                <c:pt idx="1">
                  <c:v>0.68</c:v>
                </c:pt>
                <c:pt idx="2">
                  <c:v>0.82</c:v>
                </c:pt>
                <c:pt idx="3">
                  <c:v>0.88</c:v>
                </c:pt>
                <c:pt idx="4">
                  <c:v>0.84</c:v>
                </c:pt>
                <c:pt idx="5">
                  <c:v>0.72</c:v>
                </c:pt>
                <c:pt idx="6">
                  <c:v>0.61</c:v>
                </c:pt>
                <c:pt idx="7">
                  <c:v>0.54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en–zh (far)</c:v>
                </c:pt>
              </c:strCache>
            </c:strRef>
          </c:tx>
          <c:spPr>
            <a:solidFill>
              <a:srgbClr val="8B5CF6"/>
            </a:solidFill>
            <a:ln w="38100" cap="flat">
              <a:solidFill>
                <a:srgbClr val="8B5CF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8B5CF6"/>
              </a:solidFill>
              <a:ln w="9525" cap="flat">
                <a:solidFill>
                  <a:srgbClr val="8B5CF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L1</c:v>
                  </c:pt>
                  <c:pt idx="1">
                    <c:v>L5</c:v>
                  </c:pt>
                  <c:pt idx="2">
                    <c:v>L9</c:v>
                  </c:pt>
                  <c:pt idx="3">
                    <c:v>L13</c:v>
                  </c:pt>
                  <c:pt idx="4">
                    <c:v>L17</c:v>
                  </c:pt>
                  <c:pt idx="5">
                    <c:v>L21</c:v>
                  </c:pt>
                  <c:pt idx="6">
                    <c:v>L25</c:v>
                  </c:pt>
                  <c:pt idx="7">
                    <c:v>L29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0.6</c:v>
                </c:pt>
                <c:pt idx="1">
                  <c:v>0.78</c:v>
                </c:pt>
                <c:pt idx="2">
                  <c:v>0.93</c:v>
                </c:pt>
                <c:pt idx="3">
                  <c:v>0.96</c:v>
                </c:pt>
                <c:pt idx="4">
                  <c:v>0.91</c:v>
                </c:pt>
                <c:pt idx="5">
                  <c:v>0.8</c:v>
                </c:pt>
                <c:pt idx="6">
                  <c:v>0.7</c:v>
                </c:pt>
                <c:pt idx="7">
                  <c:v>0.63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accuracy gain retained</c:v>
                </c:pt>
              </c:strCache>
            </c:strRef>
          </c:tx>
          <c:spPr>
            <a:solidFill>
              <a:srgbClr val="14B8A6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 layers (100%)</c:v>
                  </c:pt>
                  <c:pt idx="1">
                    <c:v>Top 50%</c:v>
                  </c:pt>
                  <c:pt idx="2">
                    <c:v>Top 35%</c:v>
                  </c:pt>
                  <c:pt idx="3">
                    <c:v>Top 20%</c:v>
                  </c:pt>
                  <c:pt idx="4">
                    <c:v>Random 35%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97</c:v>
                </c:pt>
                <c:pt idx="2">
                  <c:v>92</c:v>
                </c:pt>
                <c:pt idx="3">
                  <c:v>78</c:v>
                </c:pt>
                <c:pt idx="4">
                  <c:v>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371600"/>
            <a:ext cx="4389120" cy="438912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3840480"/>
            <a:ext cx="3108960" cy="310896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572000"/>
            <a:ext cx="2926080" cy="2926080"/>
          </a:xfrm>
          <a:prstGeom prst="ellipse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347472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48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 ·  MECHANISTIC INTERPRETABILITY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060704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Does the Language Barrier Live?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58368" y="18288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CBD5E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Localizing the Crosslingual Knowledge Barrier Across Layers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" y="2377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</a:t>
            </a:r>
            <a:pPr indent="0" marL="0">
              <a:buNone/>
            </a:pPr>
            <a:r>
              <a:rPr lang="en-US" sz="16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</a:t>
            </a:r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 to localize the barrier and steer </a:t>
            </a:r>
            <a:pPr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INCLINE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1752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16223B"/>
          </a:solidFill>
          <a:ln w="12700">
            <a:solidFill>
              <a:srgbClr val="1E335A"/>
            </a:solidFill>
            <a:prstDash val="solid"/>
          </a:ln>
          <a:effectLst>
            <a:outerShdw sx="100000" sy="100000" kx="0" ky="0" algn="bl" rotWithShape="0" blurRad="152400" dist="50800" dir="5400000">
              <a:srgbClr val="0B112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273552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0" descr="/home/claude/icons2/layer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429000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691640" y="332841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Question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14400" y="4005072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INCLINE intervenes on hidden states — but which layers actually carry the barrier?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352544" y="301752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16223B"/>
          </a:solidFill>
          <a:ln w="12700">
            <a:solidFill>
              <a:srgbClr val="1E335A"/>
            </a:solidFill>
            <a:prstDash val="solid"/>
          </a:ln>
          <a:effectLst>
            <a:outerShdw sx="100000" sy="100000" kx="0" ky="0" algn="bl" rotWithShape="0" blurRad="152400" dist="50800" dir="5400000">
              <a:srgbClr val="0B112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08576" y="3273552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7" name="Image 1" descr="/home/claude/icons2/warn_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429000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404104" y="332841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Unknown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4626864" y="4005072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paper localizes where languages diverge or where knowledge transfer fails.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8065008" y="3017520"/>
            <a:ext cx="3401568" cy="1874520"/>
          </a:xfrm>
          <a:prstGeom prst="roundRect">
            <a:avLst>
              <a:gd name="adj" fmla="val 4878"/>
            </a:avLst>
          </a:prstGeom>
          <a:solidFill>
            <a:srgbClr val="16223B"/>
          </a:solidFill>
          <a:ln w="12700">
            <a:solidFill>
              <a:srgbClr val="1E335A"/>
            </a:solidFill>
            <a:prstDash val="solid"/>
          </a:ln>
          <a:effectLst>
            <a:outerShdw sx="100000" sy="100000" kx="0" ky="0" algn="bl" rotWithShape="0" blurRad="152400" dist="50800" dir="5400000">
              <a:srgbClr val="0B112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321040" y="3273552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2" descr="/home/claude/icons2/cross_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3429000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116568" y="3328416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Payoff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8339328" y="4005072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critical layers → cheaper, sharper intervention &amp; better fine-tuning.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640080" y="5212080"/>
            <a:ext cx="10844784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120">
                <a:alpha val="3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" y="5486400"/>
            <a:ext cx="548640" cy="548640"/>
          </a:xfrm>
          <a:prstGeom prst="ellipse">
            <a:avLst/>
          </a:prstGeom>
          <a:solidFill>
            <a:srgbClr val="84CC16"/>
          </a:solidFill>
          <a:ln/>
        </p:spPr>
      </p:sp>
      <p:pic>
        <p:nvPicPr>
          <p:cNvPr id="27" name="Image 3" descr="/home/claude/icons2/bulb_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560527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5920" y="525780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idea: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probing + causal patching to build a </a:t>
            </a:r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map of language divergence and knowledge-transfer failure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restrict INCLINE's intervention to the layers that matter.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 ·  THE MISSING LAYER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 know the barrier exists — not where it lives inside the model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B112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801368"/>
            <a:ext cx="512064" cy="51206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8" name="Image 0" descr="/home/claude/icons2/sliders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9202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655064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INCLINE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hidden-state alignment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63040" y="2020824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Intervenes on ALL layers; HIDDEN beats ATTN/FFN/EMB — but never says which layers drive the gain.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734056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B112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86384" y="3026664"/>
            <a:ext cx="512064" cy="512064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13" name="Image 1" descr="/home/claude/icons2/warn_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145536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88036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Crosslingual Knowledge Barrier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MMLU mixup, HP-Quiz, TOFU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1463040" y="32461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the barrier across 15 models — treats the LLM as a black box; no layer attribution.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959352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B112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86384" y="4251960"/>
            <a:ext cx="512064" cy="51206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8" name="Image 2" descr="/home/claude/icons2/finger_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3708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63040" y="4105656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Probing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mBERT, language neurons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63040" y="4471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middle layers are language-specific — but on encoders / token tasks, not generative knowledge QA.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184648"/>
            <a:ext cx="6903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B112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86384" y="5477256"/>
            <a:ext cx="512064" cy="512064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23" name="Image 3" descr="/home/claude/icons2/db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5596128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5330952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Localization</a:t>
            </a:r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ROME, causal tracing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463040" y="56967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facts in mid-upper FFN — studied monolingually; crosslingual retrieval path unmapped.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7726680" y="1508760"/>
            <a:ext cx="3886200" cy="4572000"/>
          </a:xfrm>
          <a:prstGeom prst="roundRect">
            <a:avLst>
              <a:gd name="adj" fmla="val 2353"/>
            </a:avLst>
          </a:prstGeom>
          <a:solidFill>
            <a:srgbClr val="0B1120"/>
          </a:solidFill>
          <a:ln/>
          <a:effectLst>
            <a:outerShdw sx="100000" sy="100000" kx="0" ky="0" algn="bl" rotWithShape="0" blurRad="152400" dist="50800" dir="5400000">
              <a:srgbClr val="0B1120">
                <a:alpha val="2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001000" y="1801368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8" name="Image 4" descr="/home/claude/icons2/warn_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938528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86800" y="17830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shared blind spot</a:t>
            </a:r>
            <a:endParaRPr lang="en-US" sz="1700" dirty="0"/>
          </a:p>
        </p:txBody>
      </p:sp>
      <p:sp>
        <p:nvSpPr>
          <p:cNvPr id="30" name="Shape 23"/>
          <p:cNvSpPr/>
          <p:nvPr/>
        </p:nvSpPr>
        <p:spPr>
          <a:xfrm>
            <a:off x="8037576" y="265176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4"/>
          <p:cNvSpPr/>
          <p:nvPr/>
        </p:nvSpPr>
        <p:spPr>
          <a:xfrm>
            <a:off x="8321040" y="253288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INCLINE applies the same effort to every layer — likely wasteful overhead.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8037576" y="352044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26"/>
          <p:cNvSpPr/>
          <p:nvPr/>
        </p:nvSpPr>
        <p:spPr>
          <a:xfrm>
            <a:off x="8321040" y="34015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is measured at the output only; its internal origin is never traced.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8037576" y="438912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Text 28"/>
          <p:cNvSpPr/>
          <p:nvPr/>
        </p:nvSpPr>
        <p:spPr>
          <a:xfrm>
            <a:off x="8321040" y="427024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&amp; localization findings are scattered across encoders and monolingual setups.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8037576" y="525780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7" name="Text 30"/>
          <p:cNvSpPr/>
          <p:nvPr/>
        </p:nvSpPr>
        <p:spPr>
          <a:xfrm>
            <a:off x="8321040" y="513892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bridge connecting 'where languages diverge' to 'where intervention helps'.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 ·  LAYER MAPPING → TARGETED INTERVENTION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steps: from separability map to targeted INCLINE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505456" cy="56692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5727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8992" y="14630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 Map</a:t>
            </a:r>
            <a:endParaRPr lang="en-US" sz="1300" dirty="0"/>
          </a:p>
        </p:txBody>
      </p:sp>
      <p:pic>
        <p:nvPicPr>
          <p:cNvPr id="10" name="Image 0" descr="/home/claude/icons2/arrow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8960" y="1627632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438144" y="1463040"/>
            <a:ext cx="2505456" cy="5669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12" name="Shape 9"/>
          <p:cNvSpPr/>
          <p:nvPr/>
        </p:nvSpPr>
        <p:spPr>
          <a:xfrm>
            <a:off x="3547872" y="15727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354787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968496" y="14630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Loc.</a:t>
            </a:r>
            <a:endParaRPr lang="en-US" sz="1300" dirty="0"/>
          </a:p>
        </p:txBody>
      </p:sp>
      <p:pic>
        <p:nvPicPr>
          <p:cNvPr id="15" name="Image 1" descr="/home/claude/icons2/arrow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464" y="1627632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327648" y="1463040"/>
            <a:ext cx="2505456" cy="56692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" name="Shape 13"/>
          <p:cNvSpPr/>
          <p:nvPr/>
        </p:nvSpPr>
        <p:spPr>
          <a:xfrm>
            <a:off x="6437376" y="15727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6437376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858000" y="14630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INCLINE</a:t>
            </a:r>
            <a:endParaRPr lang="en-US" sz="1300" dirty="0"/>
          </a:p>
        </p:txBody>
      </p:sp>
      <p:pic>
        <p:nvPicPr>
          <p:cNvPr id="20" name="Image 2" descr="/home/claude/icons2/arrow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7968" y="1627632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217152" y="1463040"/>
            <a:ext cx="2505456" cy="56692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22" name="Shape 17"/>
          <p:cNvSpPr/>
          <p:nvPr/>
        </p:nvSpPr>
        <p:spPr>
          <a:xfrm>
            <a:off x="9326880" y="1572768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/>
          <p:nvPr/>
        </p:nvSpPr>
        <p:spPr>
          <a:xfrm>
            <a:off x="932688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9747504" y="1463040"/>
            <a:ext cx="1865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Fine-tuning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548640" y="2331720"/>
            <a:ext cx="5541264" cy="1764792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12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4672" y="2587752"/>
            <a:ext cx="603504" cy="603504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27" name="Image 3" descr="/home/claude/icons2/ruler_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2724912"/>
            <a:ext cx="329184" cy="329184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901184" y="256946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9" name="Text 23"/>
          <p:cNvSpPr/>
          <p:nvPr/>
        </p:nvSpPr>
        <p:spPr>
          <a:xfrm>
            <a:off x="4901184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1536192" y="257860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Layer-wise Separability Map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859536" y="3264408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probing: classify language per layer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 between parallel-sentence reps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information with language label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layer × language-pair heatmap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6291072" y="2331720"/>
            <a:ext cx="5541264" cy="1764792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12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6547104" y="2587752"/>
            <a:ext cx="603504" cy="603504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4" name="Image 4" descr="/home/claude/icons2/micro_v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724912"/>
            <a:ext cx="329184" cy="32918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10643616" y="256946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6" name="Text 29"/>
          <p:cNvSpPr/>
          <p:nvPr/>
        </p:nvSpPr>
        <p:spPr>
          <a:xfrm>
            <a:off x="10643616" y="2569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37" name="Text 30"/>
          <p:cNvSpPr/>
          <p:nvPr/>
        </p:nvSpPr>
        <p:spPr>
          <a:xfrm>
            <a:off x="7278624" y="257860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Knowledge Localization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6601968" y="3264408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patching: swap in EN states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Logit-lens: track where predictions split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Attention-head analysis of retrieval path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knowledge-critical layers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548640" y="4297680"/>
            <a:ext cx="5541264" cy="1764792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12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04672" y="4553712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41" name="Image 5" descr="/home/claude/icons2/bullseye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690872"/>
            <a:ext cx="329184" cy="329184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4901184" y="4535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43" name="Text 35"/>
          <p:cNvSpPr/>
          <p:nvPr/>
        </p:nvSpPr>
        <p:spPr>
          <a:xfrm>
            <a:off x="4901184" y="4535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1536192" y="45445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Targeted INCLINE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859536" y="5230368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Intervene only on selected layers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Separability- / knowledge- / gradient-based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inference overhead vs all-layer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on 9 INCLINE benchmarks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6291072" y="4297680"/>
            <a:ext cx="5541264" cy="1764792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14300" dist="38100" dir="5400000">
              <a:srgbClr val="0B112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6547104" y="4553712"/>
            <a:ext cx="603504" cy="603504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48" name="Image 6" descr="/home/claude/icons2/compress_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4690872"/>
            <a:ext cx="329184" cy="329184"/>
          </a:xfrm>
          <a:prstGeom prst="rect">
            <a:avLst/>
          </a:prstGeom>
        </p:spPr>
      </p:pic>
      <p:sp>
        <p:nvSpPr>
          <p:cNvPr id="49" name="Shape 40"/>
          <p:cNvSpPr/>
          <p:nvPr/>
        </p:nvSpPr>
        <p:spPr>
          <a:xfrm>
            <a:off x="10643616" y="4535424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/>
        </p:spPr>
      </p:sp>
      <p:sp>
        <p:nvSpPr>
          <p:cNvPr id="50" name="Text 41"/>
          <p:cNvSpPr/>
          <p:nvPr/>
        </p:nvSpPr>
        <p:spPr>
          <a:xfrm>
            <a:off x="10643616" y="45354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50" dirty="0"/>
          </a:p>
        </p:txBody>
      </p:sp>
      <p:sp>
        <p:nvSpPr>
          <p:cNvPr id="51" name="Text 42"/>
          <p:cNvSpPr/>
          <p:nvPr/>
        </p:nvSpPr>
        <p:spPr>
          <a:xfrm>
            <a:off x="7278624" y="4544568"/>
            <a:ext cx="32552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Guide Mixed-Lang FT</a:t>
            </a:r>
            <a:endParaRPr lang="en-US" sz="1500" dirty="0"/>
          </a:p>
        </p:txBody>
      </p:sp>
      <p:sp>
        <p:nvSpPr>
          <p:cNvPr id="52" name="Text 43"/>
          <p:cNvSpPr/>
          <p:nvPr/>
        </p:nvSpPr>
        <p:spPr>
          <a:xfrm>
            <a:off x="6601968" y="5230368"/>
            <a:ext cx="4946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CKA shift before/after FT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layers FT actually changes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Layer-selective fine-tuning</a:t>
            </a:r>
            <a:endParaRPr lang="en-US" sz="115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FT + INCLINE synergize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75720" y="6355080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11475720" y="635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 ·  EXPECTED 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Setup, metrics &amp; projected outcomes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862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B112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04672" y="14630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Experimental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810512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probe, CKA, mutual information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patching, logit-lens, head analysis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HP-Quiz, TOFU, XCSQA, 9 INCLINE tasks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BLOOMZ-7B1, LLaMA-3.1-8B, Mistral-7B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401568"/>
            <a:ext cx="1883664" cy="868680"/>
          </a:xfrm>
          <a:prstGeom prst="roundRect">
            <a:avLst>
              <a:gd name="adj" fmla="val 9474"/>
            </a:avLst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5400000">
              <a:srgbClr val="0B112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35204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L10–20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03504" y="39319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language-split layers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51176" y="3401568"/>
            <a:ext cx="1883664" cy="868680"/>
          </a:xfrm>
          <a:prstGeom prst="roundRect">
            <a:avLst>
              <a:gd name="adj" fmla="val 9474"/>
            </a:avLst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5400000">
              <a:srgbClr val="0B112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51176" y="3520440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B5CF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~35%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606040" y="3931920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→ ≥90% acc.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1883664" cy="868680"/>
          </a:xfrm>
          <a:prstGeom prst="roundRect">
            <a:avLst>
              <a:gd name="adj" fmla="val 9474"/>
            </a:avLst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5400000">
              <a:srgbClr val="0B1120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50799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−40%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03504" y="49194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overhead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51176" y="4389120"/>
            <a:ext cx="1883664" cy="868680"/>
          </a:xfrm>
          <a:prstGeom prst="roundRect">
            <a:avLst>
              <a:gd name="adj" fmla="val 9474"/>
            </a:avLst>
          </a:prstGeom>
          <a:solidFill>
            <a:srgbClr val="0B1120"/>
          </a:solidFill>
          <a:ln/>
          <a:effectLst>
            <a:outerShdw sx="100000" sy="100000" kx="0" ky="0" algn="bl" rotWithShape="0" blurRad="101600" dist="38100" dir="5400000">
              <a:srgbClr val="0B1120">
                <a:alpha val="1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51176" y="4507992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split 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06040" y="4919472"/>
            <a:ext cx="1773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layer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5285232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 clear language-split band in mid layers, knowledge-critical layers sitting higher — targeting both maximizes gain.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371600"/>
            <a:ext cx="6949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B112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144475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separability by layer (linear-probe accuracy)</a:t>
            </a:r>
            <a:endParaRPr lang="en-US" sz="12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754880" y="1755648"/>
          <a:ext cx="6766560" cy="20848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663440" y="4041648"/>
            <a:ext cx="694944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25400" dir="5400000">
              <a:srgbClr val="0B112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892040" y="411480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vs all-layer INCLINE: accuracy retained per layer budget</a:t>
            </a:r>
            <a:endParaRPr lang="en-US" sz="12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4754880" y="4407408"/>
          <a:ext cx="6766560" cy="16642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4023360" cy="4023360"/>
          </a:xfrm>
          <a:prstGeom prst="ellipse">
            <a:avLst/>
          </a:prstGeom>
          <a:solidFill>
            <a:srgbClr val="14B8A6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4480560"/>
            <a:ext cx="3017520" cy="301752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502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16223B"/>
          </a:solidFill>
          <a:ln w="12700">
            <a:solidFill>
              <a:srgbClr val="1E335A"/>
            </a:solidFill>
            <a:prstDash val="solid"/>
          </a:ln>
          <a:effectLst>
            <a:outerShdw sx="100000" sy="100000" kx="0" ky="0" algn="bl" rotWithShape="0" blurRad="152400" dist="50800" dir="5400000">
              <a:srgbClr val="0B112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298448"/>
            <a:ext cx="566928" cy="566928"/>
          </a:xfrm>
          <a:prstGeom prst="ellipse">
            <a:avLst/>
          </a:prstGeom>
          <a:solidFill>
            <a:srgbClr val="84CC16"/>
          </a:solidFill>
          <a:ln/>
        </p:spPr>
      </p:sp>
      <p:pic>
        <p:nvPicPr>
          <p:cNvPr id="8" name="Image 0" descr="/home/claude/icons2/check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4173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1005840"/>
            <a:ext cx="9601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line:  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crosslingual knowledge barrier </a:t>
            </a:r>
            <a:pPr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by layer</a:t>
            </a:r>
            <a:pPr indent="0" marL="0">
              <a:lnSpc>
                <a:spcPct val="108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steer INCLINE and fine-tuning at exactly the layers where languages split and knowledge fails to transfer.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40080" y="2514600"/>
            <a:ext cx="530352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7800" dist="50800" dir="5400000">
              <a:srgbClr val="0B112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14400" y="2788920"/>
            <a:ext cx="566928" cy="566928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2" name="Image 1" descr="/home/claude/icons2/rocket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92608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960120" y="356616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2" descr="/home/claude/icons2/sitemap_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6758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72768" y="351129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Cross-model layer atlas 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split / knowledge layers across BLOOMZ, LLaMA, Mistral architectures.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60120" y="443484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18" name="Image 3" descr="/home/claude/icons2/network_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45445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72768" y="437997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Circuit-level tracing 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layers to specific heads &amp; MLP circuits for crosslingual retrieval.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960120" y="530352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4" descr="/home/claude/icons2/compress_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5413248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72768" y="52486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Layer-selective FT  </a:t>
            </a:r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only knowledge-critical layers for cheaper barrier reduction.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2514600"/>
            <a:ext cx="5303520" cy="3611880"/>
          </a:xfrm>
          <a:prstGeom prst="roundRect">
            <a:avLst>
              <a:gd name="adj" fmla="val 2532"/>
            </a:avLst>
          </a:prstGeom>
          <a:solidFill>
            <a:srgbClr val="16223B"/>
          </a:solidFill>
          <a:ln w="12700">
            <a:solidFill>
              <a:srgbClr val="1E335A"/>
            </a:solidFill>
            <a:prstDash val="solid"/>
          </a:ln>
          <a:effectLst>
            <a:outerShdw sx="100000" sy="100000" kx="0" ky="0" algn="bl" rotWithShape="0" blurRad="152400" dist="50800" dir="5400000">
              <a:srgbClr val="0B1120">
                <a:alpha val="2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92240" y="2788920"/>
            <a:ext cx="566928" cy="566928"/>
          </a:xfrm>
          <a:prstGeom prst="ellipse">
            <a:avLst/>
          </a:prstGeom>
          <a:solidFill>
            <a:srgbClr val="FB7185"/>
          </a:solidFill>
          <a:ln/>
        </p:spPr>
      </p:sp>
      <p:pic>
        <p:nvPicPr>
          <p:cNvPr id="25" name="Image 5" descr="/home/claude/icons2/warn_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926080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280720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27" name="Shape 19"/>
          <p:cNvSpPr/>
          <p:nvPr/>
        </p:nvSpPr>
        <p:spPr>
          <a:xfrm>
            <a:off x="6528816" y="3630168"/>
            <a:ext cx="310896" cy="310896"/>
          </a:xfrm>
          <a:prstGeom prst="ellipse">
            <a:avLst/>
          </a:prstGeom>
          <a:solidFill>
            <a:srgbClr val="1E335A"/>
          </a:solidFill>
          <a:ln/>
        </p:spPr>
      </p:sp>
      <p:pic>
        <p:nvPicPr>
          <p:cNvPr id="28" name="Image 6" descr="/home/claude/icons2/times_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1968" y="3703320"/>
            <a:ext cx="164592" cy="16459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967728" y="352044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open-weight models with internal access — closed APIs (e.g. GPT-4o) excluded.</a:t>
            </a:r>
            <a:endParaRPr lang="en-US" sz="1200" dirty="0"/>
          </a:p>
        </p:txBody>
      </p:sp>
      <p:sp>
        <p:nvSpPr>
          <p:cNvPr id="30" name="Shape 21"/>
          <p:cNvSpPr/>
          <p:nvPr/>
        </p:nvSpPr>
        <p:spPr>
          <a:xfrm>
            <a:off x="6528816" y="4562856"/>
            <a:ext cx="310896" cy="310896"/>
          </a:xfrm>
          <a:prstGeom prst="ellipse">
            <a:avLst/>
          </a:prstGeom>
          <a:solidFill>
            <a:srgbClr val="1E335A"/>
          </a:solidFill>
          <a:ln/>
        </p:spPr>
      </p:sp>
      <p:pic>
        <p:nvPicPr>
          <p:cNvPr id="31" name="Image 7" descr="/home/claude/icons2/thermo_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1968" y="4636008"/>
            <a:ext cx="164592" cy="16459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967728" y="4453128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Probing &amp; CKA are correlational; causal patching needed to confirm layer attribution.</a:t>
            </a:r>
            <a:endParaRPr lang="en-US" sz="1200" dirty="0"/>
          </a:p>
        </p:txBody>
      </p:sp>
      <p:sp>
        <p:nvSpPr>
          <p:cNvPr id="33" name="Shape 23"/>
          <p:cNvSpPr/>
          <p:nvPr/>
        </p:nvSpPr>
        <p:spPr>
          <a:xfrm>
            <a:off x="6528816" y="5495544"/>
            <a:ext cx="310896" cy="310896"/>
          </a:xfrm>
          <a:prstGeom prst="ellipse">
            <a:avLst/>
          </a:prstGeom>
          <a:solidFill>
            <a:srgbClr val="1E335A"/>
          </a:solidFill>
          <a:ln/>
        </p:spPr>
      </p:sp>
      <p:pic>
        <p:nvPicPr>
          <p:cNvPr id="34" name="Image 8" descr="/home/claude/icons2/branch_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1968" y="5568696"/>
            <a:ext cx="164592" cy="164592"/>
          </a:xfrm>
          <a:prstGeom prst="rect">
            <a:avLst/>
          </a:prstGeom>
        </p:spPr>
      </p:pic>
      <p:sp>
        <p:nvSpPr>
          <p:cNvPr id="35" name="Text 24"/>
          <p:cNvSpPr/>
          <p:nvPr/>
        </p:nvSpPr>
        <p:spPr>
          <a:xfrm>
            <a:off x="6967728" y="5385816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indices may not transfer across architectures, depths, or tokenizers.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64008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Layer-wise Crosslingual Knowledge Barrier  ·  Research Proposal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Layer-wise Crosslingual Knowledge Barrier</dc:title>
  <dc:subject>PptxGenJS Presentation</dc:subject>
  <dc:creator>Research Proposal</dc:creator>
  <cp:lastModifiedBy>Research Proposal</cp:lastModifiedBy>
  <cp:revision>1</cp:revision>
  <dcterms:created xsi:type="dcterms:W3CDTF">2026-06-21T05:04:33Z</dcterms:created>
  <dcterms:modified xsi:type="dcterms:W3CDTF">2026-06-21T05:04:33Z</dcterms:modified>
</cp:coreProperties>
</file>